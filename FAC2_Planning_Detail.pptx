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D14B3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F6E5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0A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 1 · DETAIL PROCESS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2공장 발주계획 상세 프로세스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접수 ~ 1공장 발주 진행 · 5단계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× 인력 × 설비 CAPA를 한 시트에서 분석하는 가용자산분석 설계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97880"/>
            <a:ext cx="2011680" cy="0"/>
          </a:xfrm>
          <a:prstGeom prst="line">
            <a:avLst/>
          </a:prstGeom>
          <a:noFill/>
          <a:ln w="25400">
            <a:solidFill>
              <a:srgbClr val="D14B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Co., Ltd.  |  공무팀(Maintenance Team)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62895" y="5989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프로세스 개요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화이트보드 내용을 그대로 반영한 2공장 발주계획 흐름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F1EFE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438912" cy="438912"/>
          </a:xfrm>
          <a:prstGeom prst="ellipse">
            <a:avLst/>
          </a:prstGeom>
          <a:solidFill>
            <a:srgbClr val="88878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접수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PO를 어떻게 받을지 — 이메일/EDI 수신, 문서 등록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F1EFE8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999232"/>
            <a:ext cx="438912" cy="438912"/>
          </a:xfrm>
          <a:prstGeom prst="ellipse">
            <a:avLst/>
          </a:prstGeom>
          <a:solidFill>
            <a:srgbClr val="88878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90779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2공장에서는 어떻게 받을지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907792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확인 → 시스템 등록 → 가용자산분석 대기 전환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FBEAE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895344"/>
            <a:ext cx="438912" cy="438912"/>
          </a:xfrm>
          <a:prstGeom prst="ellipse">
            <a:avLst/>
          </a:prstGeom>
          <a:solidFill>
            <a:srgbClr val="D14B3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80390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2공장 가용자산 분석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803904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· 인력 · 설비 CAPA를 한 시트에서 통합 분석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591495" y="3968496"/>
            <a:ext cx="4663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591495" y="3968496"/>
            <a:ext cx="466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08576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F1EFE8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791456"/>
            <a:ext cx="438912" cy="438912"/>
          </a:xfrm>
          <a:prstGeom prst="ellipse">
            <a:avLst/>
          </a:prstGeom>
          <a:solidFill>
            <a:srgbClr val="88878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91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470001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2공장 계획수립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4700016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분석 결과를 기반으로 생산 우선순위 자동 정렬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504688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F1EFE8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5687568"/>
            <a:ext cx="438912" cy="438912"/>
          </a:xfrm>
          <a:prstGeom prst="ellipse">
            <a:avLst/>
          </a:prstGeom>
          <a:solidFill>
            <a:srgbClr val="88878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687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559612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2공장 → 1공장 발주 진행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5596128"/>
            <a:ext cx="56994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수량을 1공장에 통보, Box 2로 연결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1-2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접수 · 2공장 접수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 수신부터 시스템 등록까지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1EFE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48840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고객사 접수 — 접수 PO 예시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6243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문서번호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624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PO-2026-0823-CN8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172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Motors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721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37216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4270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모델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4270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CN8 S / C / 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48188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수량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4818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3,340 EA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5516575" cy="3657600"/>
          </a:xfrm>
          <a:prstGeom prst="roundRect">
            <a:avLst>
              <a:gd name="adj" fmla="val 2000"/>
            </a:avLst>
          </a:prstGeom>
          <a:solidFill>
            <a:srgbClr val="FBEAE8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148840"/>
            <a:ext cx="50045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2공장 접수 흐름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82512" y="2651760"/>
            <a:ext cx="5004511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4B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651760"/>
            <a:ext cx="50045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 수신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02472" y="3200400"/>
            <a:ext cx="164592" cy="146304"/>
          </a:xfrm>
          <a:prstGeom prst="downArrow">
            <a:avLst/>
          </a:prstGeom>
          <a:solidFill>
            <a:srgbClr val="D14B3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82512" y="3364992"/>
            <a:ext cx="5004511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4B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364992"/>
            <a:ext cx="50045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2공장 담당자 확인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02472" y="3913632"/>
            <a:ext cx="164592" cy="146304"/>
          </a:xfrm>
          <a:prstGeom prst="downArrow">
            <a:avLst/>
          </a:prstGeom>
          <a:solidFill>
            <a:srgbClr val="D14B3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4078224"/>
            <a:ext cx="5004511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4B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078224"/>
            <a:ext cx="50045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등록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2472" y="4626864"/>
            <a:ext cx="164592" cy="146304"/>
          </a:xfrm>
          <a:prstGeom prst="downArrow">
            <a:avLst/>
          </a:prstGeom>
          <a:solidFill>
            <a:srgbClr val="D14B3F"/>
          </a:solidFill>
          <a:ln/>
        </p:spPr>
      </p:sp>
      <p:sp>
        <p:nvSpPr>
          <p:cNvPr id="28" name="Shape 26"/>
          <p:cNvSpPr/>
          <p:nvPr/>
        </p:nvSpPr>
        <p:spPr>
          <a:xfrm>
            <a:off x="6382512" y="4791456"/>
            <a:ext cx="5004511" cy="530352"/>
          </a:xfrm>
          <a:prstGeom prst="roundRect">
            <a:avLst>
              <a:gd name="adj" fmla="val 50000"/>
            </a:avLst>
          </a:prstGeom>
          <a:solidFill>
            <a:srgbClr val="D14B3F"/>
          </a:solidFill>
          <a:ln w="12700">
            <a:solidFill>
              <a:srgbClr val="D14B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4791456"/>
            <a:ext cx="50045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가용자산분석 대기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가용자산분석 — 통합 시트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× 인력 × 설비 CAPA를 한 화면에서 판정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1EF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1168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322576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 모델 (CN8 S/C/H)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989320" y="1920240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1EFE8"/>
          </a:solidFill>
          <a:ln/>
        </p:spPr>
      </p:sp>
      <p:sp>
        <p:nvSpPr>
          <p:cNvPr id="9" name="Text 7"/>
          <p:cNvSpPr/>
          <p:nvPr/>
        </p:nvSpPr>
        <p:spPr>
          <a:xfrm>
            <a:off x="6190488" y="201168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요청수량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90488" y="2322576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PO 기준 수량(EA)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1EFE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0906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설비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3401568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모델 대응 + 가동가능 상태인 설비 목록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989320" y="2999232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1EFE8"/>
          </a:solidFill>
          <a:ln/>
        </p:spPr>
      </p:sp>
      <p:sp>
        <p:nvSpPr>
          <p:cNvPr id="15" name="Text 13"/>
          <p:cNvSpPr/>
          <p:nvPr/>
        </p:nvSpPr>
        <p:spPr>
          <a:xfrm>
            <a:off x="6190488" y="30906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CAPA/일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90488" y="3401568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설비의 일일 생산 가능량 합계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1EFE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6966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CAPA/일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44805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요청수량 ÷ 계획기간(일)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89320" y="4078224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1EFE8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416966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소요일수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90488" y="44805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요청수량 ÷ 설비 CAPA/일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5157216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1EFE8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248656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영향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9808" y="5559552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조별 필요인원 대비 배치인원 충족 여부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989320" y="5157216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1EFE8"/>
          </a:solidFill>
          <a:ln/>
        </p:spPr>
      </p:sp>
      <p:sp>
        <p:nvSpPr>
          <p:cNvPr id="27" name="Text 25"/>
          <p:cNvSpPr/>
          <p:nvPr/>
        </p:nvSpPr>
        <p:spPr>
          <a:xfrm>
            <a:off x="6190488" y="5248656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종합판정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90488" y="5559552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가능·여유 / 주의·증산검토 / 불가·증산필요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로직과 계산 예시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소요일수 = 요청수량 ÷ 설비 CAPA/일 · 계획기간과 비교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84832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가능·여유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487168"/>
            <a:ext cx="30824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CAPA/일 ≤ 설비 CAPA/일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3458" y="1920240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AEEDA"/>
          </a:solidFill>
          <a:ln/>
        </p:spPr>
      </p:sp>
      <p:sp>
        <p:nvSpPr>
          <p:cNvPr id="9" name="Text 7"/>
          <p:cNvSpPr/>
          <p:nvPr/>
        </p:nvSpPr>
        <p:spPr>
          <a:xfrm>
            <a:off x="4554626" y="2084832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75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주의·증산검토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4626" y="2487168"/>
            <a:ext cx="30824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CAPA/일이 설비 CAPA/일의 130% 이내 초과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58277" y="1920240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BEAE8"/>
          </a:solidFill>
          <a:ln/>
        </p:spPr>
      </p:sp>
      <p:sp>
        <p:nvSpPr>
          <p:cNvPr id="12" name="Text 10"/>
          <p:cNvSpPr/>
          <p:nvPr/>
        </p:nvSpPr>
        <p:spPr>
          <a:xfrm>
            <a:off x="8359445" y="2084832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불가·증산필요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59445" y="2487168"/>
            <a:ext cx="30824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CAPA/일이 설비 CAPA/일의 130% 초과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30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예시 · CN8 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10545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요청수량 2,200 EA · 계획기간 5일 → 필요 CAPA/일 = 2,200 ÷ 5 = 440 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10545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가동 설비: DC2(160) + DC6(155) = 315 EA/일  (DC5는 고장으로 제외)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10545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440 EA &gt; 315 EA × 1.3(≈410) → 판정: 불가·증산필요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257800"/>
            <a:ext cx="10545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소요일수 = 2,200 ÷ 315 ≈ 6.98일 (계획기간 5일 초과)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계획수립 — 위험도 우선순위 자동 정렬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분석 결과를 그대로 계획(안)에 반영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BEAE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1428"/>
            <a:ext cx="512064" cy="512064"/>
          </a:xfrm>
          <a:prstGeom prst="ellipse">
            <a:avLst/>
          </a:prstGeom>
          <a:solidFill>
            <a:srgbClr val="D14B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14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CN8 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542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2,200 EA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391156"/>
            <a:ext cx="99212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391156"/>
            <a:ext cx="992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불가·증산필요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4785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정비 일정 단축 또는 납기 재협의 필요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1F5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515868"/>
            <a:ext cx="512064" cy="51206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158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3741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CN8 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776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660 EA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3625596"/>
            <a:ext cx="7818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3625596"/>
            <a:ext cx="781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가능·여유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3246120"/>
            <a:ext cx="4785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계획대로 진행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1F5E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750308"/>
            <a:ext cx="512064" cy="51206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7503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8760" y="46085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CN8 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5010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440 EA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4860036"/>
            <a:ext cx="7818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4860036"/>
            <a:ext cx="781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가능·여유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0" y="4480560"/>
            <a:ext cx="4785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계획대로 진행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2공장 → 1공장 발주 진행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수량 통보 · Box 2(1공장 생산계획)로 연결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1EFE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73152" cy="1005840"/>
          </a:xfrm>
          <a:prstGeom prst="rect">
            <a:avLst/>
          </a:prstGeom>
          <a:solidFill>
            <a:srgbClr val="D14B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762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 1 완료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4번 계획수립 확정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91330" y="2441448"/>
            <a:ext cx="219456" cy="146304"/>
          </a:xfrm>
          <a:prstGeom prst="rightArrow">
            <a:avLst/>
          </a:prstGeom>
          <a:solidFill>
            <a:srgbClr val="B4B2A9"/>
          </a:solidFill>
          <a:ln/>
        </p:spPr>
      </p:sp>
      <p:sp>
        <p:nvSpPr>
          <p:cNvPr id="10" name="Shape 8"/>
          <p:cNvSpPr/>
          <p:nvPr/>
        </p:nvSpPr>
        <p:spPr>
          <a:xfrm>
            <a:off x="4338218" y="201168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1EFE8"/>
          </a:solidFill>
          <a:ln/>
        </p:spPr>
      </p:sp>
      <p:sp>
        <p:nvSpPr>
          <p:cNvPr id="11" name="Shape 9"/>
          <p:cNvSpPr/>
          <p:nvPr/>
        </p:nvSpPr>
        <p:spPr>
          <a:xfrm>
            <a:off x="4338218" y="2011680"/>
            <a:ext cx="73152" cy="100584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2" name="Text 10"/>
          <p:cNvSpPr/>
          <p:nvPr/>
        </p:nvSpPr>
        <p:spPr>
          <a:xfrm>
            <a:off x="4612538" y="21762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발주수량 통보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2538" y="254203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모델별 확정 수량 + 생산순서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80909" y="2441448"/>
            <a:ext cx="219456" cy="146304"/>
          </a:xfrm>
          <a:prstGeom prst="rightArrow">
            <a:avLst/>
          </a:prstGeom>
          <a:solidFill>
            <a:srgbClr val="B4B2A9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7797" y="201168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1EFE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2011680"/>
            <a:ext cx="73152" cy="10058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8402117" y="21762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 2 진입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02117" y="254203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1공장 생산계획 수립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11094415" cy="2286000"/>
          </a:xfrm>
          <a:prstGeom prst="roundRect">
            <a:avLst>
              <a:gd name="adj" fmla="val 3200"/>
            </a:avLst>
          </a:prstGeom>
          <a:solidFill>
            <a:srgbClr val="F1EFE8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발주수량 통보 테이블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4672" y="4005072"/>
            <a:ext cx="2377440" cy="457200"/>
          </a:xfrm>
          <a:prstGeom prst="rect">
            <a:avLst/>
          </a:prstGeom>
          <a:solidFill>
            <a:srgbClr val="1B3A4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82112" y="4005072"/>
            <a:ext cx="2377440" cy="457200"/>
          </a:xfrm>
          <a:prstGeom prst="rect">
            <a:avLst/>
          </a:prstGeom>
          <a:solidFill>
            <a:srgbClr val="1B3A4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수량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59552" y="4005072"/>
            <a:ext cx="2011680" cy="457200"/>
          </a:xfrm>
          <a:prstGeom prst="rect">
            <a:avLst/>
          </a:prstGeom>
          <a:solidFill>
            <a:srgbClr val="1B3A4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4005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순서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71232" y="4005072"/>
            <a:ext cx="3815791" cy="457200"/>
          </a:xfrm>
          <a:prstGeom prst="rect">
            <a:avLst/>
          </a:prstGeom>
          <a:solidFill>
            <a:srgbClr val="1B3A4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62672" y="4005072"/>
            <a:ext cx="3632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" y="4462272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462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CN8 H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182112" y="4462272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4462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2,200 EA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9552" y="446227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4462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571232" y="4462272"/>
            <a:ext cx="3815791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4462272"/>
            <a:ext cx="3632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14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증산/납기 협의 필요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04672" y="4919472"/>
            <a:ext cx="2377440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49194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CN8 S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182112" y="4919472"/>
            <a:ext cx="2377440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49194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660 EA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9552" y="4919472"/>
            <a:ext cx="2011680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4919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571232" y="4919472"/>
            <a:ext cx="3815791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62672" y="4919472"/>
            <a:ext cx="3632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진행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804672" y="5376672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" y="5376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CN8 C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182112" y="5376672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5376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440 EA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9552" y="537667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50992" y="5376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7571232" y="5376672"/>
            <a:ext cx="3815791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62672" y="5376672"/>
            <a:ext cx="3632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B3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진행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D14B3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 &amp; 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동작하는 대시보드로 구현 완료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D14B3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fac2_planning.html — 1~5단계 아코디언 구조, 3단계는 수량×인력×설비CAPA 통합 시트로 실제 계산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D14B3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50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로직(가능/주의/불가)이 실시간으로 계산되어 배지로 표시됨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D14B3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16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생산계획(안)은 3단계 판정 결과 기준으로 위험도순 자동 정렬됨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95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D14B3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4838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추적성 통합 대시보드(Box 1 카드)에서 '상세보기'로 바로 연결됨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 2(1공장 생산계획)도 동일한 방식(가용자원분석 → 계획수립)으로 상세화하면, Box 1~4 전 구간이 같은 설계 원칙으로 통일됩니다.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6035040"/>
            <a:ext cx="2011680" cy="0"/>
          </a:xfrm>
          <a:prstGeom prst="line">
            <a:avLst/>
          </a:prstGeom>
          <a:noFill/>
          <a:ln w="25400">
            <a:solidFill>
              <a:srgbClr val="D14B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Co., Ltd.  |  공무팀  |  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2026-08-19T13:44:52Z</dcterms:created>
  <dcterms:modified xsi:type="dcterms:W3CDTF">2026-08-19T13:44:52Z</dcterms:modified>
</cp:coreProperties>
</file>